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1359475" cy="22502813"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1359474" cy="2834640"/>
          </a:xfrm>
          <a:prstGeom prst="rect">
            <a:avLst/>
          </a:prstGeom>
          <a:solidFill>
            <a:srgbClr val="0E20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29804994" cy="1005840"/>
          </a:xfrm>
          <a:prstGeom prst="rect">
            <a:avLst/>
          </a:prstGeom>
          <a:noFill/>
        </p:spPr>
        <p:txBody>
          <a:bodyPr wrap="none" lIns="109728" rIns="109728" anchor="t">
            <a:spAutoFit/>
          </a:bodyPr>
          <a:lstStyle/>
          <a:p>
            <a:pPr algn="ctr">
              <a:defRPr sz="4300" b="1">
                <a:solidFill>
                  <a:srgbClr val="FFFFFF"/>
                </a:solidFill>
                <a:latin typeface="Arial"/>
              </a:defRPr>
            </a:pPr>
            <a:r>
              <a:t>Investigating and Mitigating Cloud Security Vulnerabilities Across Multiple Cloud Platforms</a:t>
            </a:r>
          </a:p>
        </p:txBody>
      </p:sp>
      <p:sp>
        <p:nvSpPr>
          <p:cNvPr id="4" name="TextBox 3"/>
          <p:cNvSpPr txBox="1"/>
          <p:nvPr/>
        </p:nvSpPr>
        <p:spPr>
          <a:xfrm>
            <a:off x="777240" y="1600200"/>
            <a:ext cx="29804994" cy="365760"/>
          </a:xfrm>
          <a:prstGeom prst="rect">
            <a:avLst/>
          </a:prstGeom>
          <a:noFill/>
        </p:spPr>
        <p:txBody>
          <a:bodyPr wrap="none" lIns="109728" rIns="109728" anchor="t">
            <a:spAutoFit/>
          </a:bodyPr>
          <a:lstStyle/>
          <a:p>
            <a:pPr algn="ctr">
              <a:defRPr sz="2200" b="0">
                <a:solidFill>
                  <a:srgbClr val="DBEAFE"/>
                </a:solidFill>
                <a:latin typeface="Arial"/>
              </a:defRPr>
            </a:pPr>
            <a:r>
              <a:t>Osadiame Edoburun | School of Computing and Digital Media | London Metropolitan University</a:t>
            </a:r>
          </a:p>
        </p:txBody>
      </p:sp>
      <p:sp>
        <p:nvSpPr>
          <p:cNvPr id="5" name="TextBox 4"/>
          <p:cNvSpPr txBox="1"/>
          <p:nvPr/>
        </p:nvSpPr>
        <p:spPr>
          <a:xfrm>
            <a:off x="777240" y="2075688"/>
            <a:ext cx="29804994" cy="320040"/>
          </a:xfrm>
          <a:prstGeom prst="rect">
            <a:avLst/>
          </a:prstGeom>
          <a:noFill/>
        </p:spPr>
        <p:txBody>
          <a:bodyPr wrap="none" lIns="109728" rIns="109728" anchor="t">
            <a:spAutoFit/>
          </a:bodyPr>
          <a:lstStyle/>
          <a:p>
            <a:pPr algn="ctr">
              <a:defRPr sz="1800" b="0">
                <a:solidFill>
                  <a:srgbClr val="BFDBFE"/>
                </a:solidFill>
                <a:latin typeface="Arial"/>
              </a:defRPr>
            </a:pPr>
            <a:r>
              <a:t>FC6P01 Final Year Project Poster</a:t>
            </a:r>
          </a:p>
        </p:txBody>
      </p:sp>
      <p:sp>
        <p:nvSpPr>
          <p:cNvPr id="6" name="Rounded Rectangle 5"/>
          <p:cNvSpPr/>
          <p:nvPr/>
        </p:nvSpPr>
        <p:spPr>
          <a:xfrm>
            <a:off x="731520" y="3063240"/>
            <a:ext cx="29896434" cy="960120"/>
          </a:xfrm>
          <a:prstGeom prst="roundRect">
            <a:avLst/>
          </a:prstGeom>
          <a:solidFill>
            <a:srgbClr val="EFF6FF"/>
          </a:solidFill>
          <a:ln w="1524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218688"/>
            <a:ext cx="3840480" cy="384048"/>
          </a:xfrm>
          <a:prstGeom prst="rect">
            <a:avLst/>
          </a:prstGeom>
          <a:noFill/>
        </p:spPr>
        <p:txBody>
          <a:bodyPr wrap="none" lIns="109728" rIns="109728" anchor="t">
            <a:spAutoFit/>
          </a:bodyPr>
          <a:lstStyle/>
          <a:p>
            <a:pPr algn="l">
              <a:defRPr sz="2400" b="1">
                <a:solidFill>
                  <a:srgbClr val="0E203E"/>
                </a:solidFill>
                <a:latin typeface="Arial"/>
              </a:defRPr>
            </a:pPr>
            <a:r>
              <a:t>Tested Risks</a:t>
            </a:r>
          </a:p>
        </p:txBody>
      </p:sp>
      <p:sp>
        <p:nvSpPr>
          <p:cNvPr id="8" name="Rounded Rectangle 7"/>
          <p:cNvSpPr/>
          <p:nvPr/>
        </p:nvSpPr>
        <p:spPr>
          <a:xfrm>
            <a:off x="4754880" y="3218688"/>
            <a:ext cx="3657600" cy="420624"/>
          </a:xfrm>
          <a:prstGeom prst="roundRect">
            <a:avLst/>
          </a:prstGeom>
          <a:solidFill>
            <a:srgbClr val="FFFFFF"/>
          </a:solidFill>
          <a:ln>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3264408"/>
            <a:ext cx="3566160" cy="292608"/>
          </a:xfrm>
          <a:prstGeom prst="rect">
            <a:avLst/>
          </a:prstGeom>
          <a:noFill/>
        </p:spPr>
        <p:txBody>
          <a:bodyPr wrap="none" lIns="109728" rIns="109728" anchor="t">
            <a:spAutoFit/>
          </a:bodyPr>
          <a:lstStyle/>
          <a:p>
            <a:pPr algn="ctr">
              <a:defRPr sz="1700" b="1">
                <a:solidFill>
                  <a:srgbClr val="2463EB"/>
                </a:solidFill>
                <a:latin typeface="Arial"/>
              </a:defRPr>
            </a:pPr>
            <a:r>
              <a:t>Public Storage</a:t>
            </a:r>
          </a:p>
        </p:txBody>
      </p:sp>
      <p:sp>
        <p:nvSpPr>
          <p:cNvPr id="10" name="Rounded Rectangle 9"/>
          <p:cNvSpPr/>
          <p:nvPr/>
        </p:nvSpPr>
        <p:spPr>
          <a:xfrm>
            <a:off x="9144000" y="3218688"/>
            <a:ext cx="3657600" cy="420624"/>
          </a:xfrm>
          <a:prstGeom prst="roundRect">
            <a:avLst/>
          </a:prstGeom>
          <a:solidFill>
            <a:srgbClr val="FFFFFF"/>
          </a:solidFill>
          <a:ln>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89720" y="3264408"/>
            <a:ext cx="3566160" cy="292608"/>
          </a:xfrm>
          <a:prstGeom prst="rect">
            <a:avLst/>
          </a:prstGeom>
          <a:noFill/>
        </p:spPr>
        <p:txBody>
          <a:bodyPr wrap="none" lIns="109728" rIns="109728" anchor="t">
            <a:spAutoFit/>
          </a:bodyPr>
          <a:lstStyle/>
          <a:p>
            <a:pPr algn="ctr">
              <a:defRPr sz="1700" b="1">
                <a:solidFill>
                  <a:srgbClr val="2463EB"/>
                </a:solidFill>
                <a:latin typeface="Arial"/>
              </a:defRPr>
            </a:pPr>
            <a:r>
              <a:t>Excessive IAM</a:t>
            </a:r>
          </a:p>
        </p:txBody>
      </p:sp>
      <p:sp>
        <p:nvSpPr>
          <p:cNvPr id="12" name="Rounded Rectangle 11"/>
          <p:cNvSpPr/>
          <p:nvPr/>
        </p:nvSpPr>
        <p:spPr>
          <a:xfrm>
            <a:off x="13350240" y="3218688"/>
            <a:ext cx="3657600" cy="420624"/>
          </a:xfrm>
          <a:prstGeom prst="roundRect">
            <a:avLst/>
          </a:prstGeom>
          <a:solidFill>
            <a:srgbClr val="FFFFFF"/>
          </a:solidFill>
          <a:ln>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395960" y="3264408"/>
            <a:ext cx="3566160" cy="292608"/>
          </a:xfrm>
          <a:prstGeom prst="rect">
            <a:avLst/>
          </a:prstGeom>
          <a:noFill/>
        </p:spPr>
        <p:txBody>
          <a:bodyPr wrap="none" lIns="109728" rIns="109728" anchor="t">
            <a:spAutoFit/>
          </a:bodyPr>
          <a:lstStyle/>
          <a:p>
            <a:pPr algn="ctr">
              <a:defRPr sz="1700" b="1">
                <a:solidFill>
                  <a:srgbClr val="2463EB"/>
                </a:solidFill>
                <a:latin typeface="Arial"/>
              </a:defRPr>
            </a:pPr>
            <a:r>
              <a:t>Open SSH/Network</a:t>
            </a:r>
          </a:p>
        </p:txBody>
      </p:sp>
      <p:sp>
        <p:nvSpPr>
          <p:cNvPr id="14" name="TextBox 13"/>
          <p:cNvSpPr txBox="1"/>
          <p:nvPr/>
        </p:nvSpPr>
        <p:spPr>
          <a:xfrm>
            <a:off x="17556480" y="3236976"/>
            <a:ext cx="12527280" cy="329184"/>
          </a:xfrm>
          <a:prstGeom prst="rect">
            <a:avLst/>
          </a:prstGeom>
          <a:noFill/>
        </p:spPr>
        <p:txBody>
          <a:bodyPr wrap="none" lIns="109728" rIns="109728" anchor="t">
            <a:spAutoFit/>
          </a:bodyPr>
          <a:lstStyle/>
          <a:p>
            <a:pPr algn="r">
              <a:defRPr sz="1800" b="1">
                <a:solidFill>
                  <a:srgbClr val="0E203E"/>
                </a:solidFill>
                <a:latin typeface="Arial"/>
              </a:defRPr>
            </a:pPr>
            <a:r>
              <a:t>Providers: AWS | Azure | GCP | OCI | IBM Cloud</a:t>
            </a:r>
          </a:p>
        </p:txBody>
      </p:sp>
      <p:sp>
        <p:nvSpPr>
          <p:cNvPr id="15" name="Rounded Rectangle 14"/>
          <p:cNvSpPr/>
          <p:nvPr/>
        </p:nvSpPr>
        <p:spPr>
          <a:xfrm>
            <a:off x="731520" y="4343400"/>
            <a:ext cx="9509760" cy="27432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480560"/>
            <a:ext cx="9235440" cy="320040"/>
          </a:xfrm>
          <a:prstGeom prst="rect">
            <a:avLst/>
          </a:prstGeom>
          <a:noFill/>
        </p:spPr>
        <p:txBody>
          <a:bodyPr wrap="none" lIns="109728" rIns="109728" anchor="t">
            <a:spAutoFit/>
          </a:bodyPr>
          <a:lstStyle/>
          <a:p>
            <a:pPr algn="l">
              <a:defRPr sz="2300" b="1">
                <a:solidFill>
                  <a:srgbClr val="2463EB"/>
                </a:solidFill>
                <a:latin typeface="Arial"/>
              </a:defRPr>
            </a:pPr>
            <a:r>
              <a:t>Aim</a:t>
            </a:r>
          </a:p>
        </p:txBody>
      </p:sp>
      <p:sp>
        <p:nvSpPr>
          <p:cNvPr id="17" name="TextBox 16"/>
          <p:cNvSpPr txBox="1"/>
          <p:nvPr/>
        </p:nvSpPr>
        <p:spPr>
          <a:xfrm>
            <a:off x="868680" y="4892040"/>
            <a:ext cx="9235440" cy="2057400"/>
          </a:xfrm>
          <a:prstGeom prst="rect">
            <a:avLst/>
          </a:prstGeom>
          <a:noFill/>
        </p:spPr>
        <p:txBody>
          <a:bodyPr wrap="square" lIns="18288" rIns="18288" tIns="18288" bIns="18288">
            <a:spAutoFit/>
          </a:bodyPr>
          <a:lstStyle/>
          <a:p>
            <a:pPr>
              <a:spcAft>
                <a:spcPts val="200"/>
              </a:spcAft>
              <a:defRPr sz="2100">
                <a:solidFill>
                  <a:srgbClr val="1E293B"/>
                </a:solidFill>
                <a:latin typeface="Arial"/>
              </a:defRPr>
            </a:pPr>
            <a:r>
              <a:t>This project investigated how common cloud security vulnerabilities can be recreated, detected and remediated across AWS, Microsoft Azure, Google Cloud Platform, Oracle Cloud Infrastructure and IBM Cloud.</a:t>
            </a:r>
          </a:p>
        </p:txBody>
      </p:sp>
      <p:sp>
        <p:nvSpPr>
          <p:cNvPr id="18" name="Rounded Rectangle 17"/>
          <p:cNvSpPr/>
          <p:nvPr/>
        </p:nvSpPr>
        <p:spPr>
          <a:xfrm>
            <a:off x="731520" y="7360920"/>
            <a:ext cx="9509760" cy="36576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7498080"/>
            <a:ext cx="9235440" cy="320040"/>
          </a:xfrm>
          <a:prstGeom prst="rect">
            <a:avLst/>
          </a:prstGeom>
          <a:noFill/>
        </p:spPr>
        <p:txBody>
          <a:bodyPr wrap="none" lIns="109728" rIns="109728" anchor="t">
            <a:spAutoFit/>
          </a:bodyPr>
          <a:lstStyle/>
          <a:p>
            <a:pPr algn="l">
              <a:defRPr sz="2300" b="1">
                <a:solidFill>
                  <a:srgbClr val="2463EB"/>
                </a:solidFill>
                <a:latin typeface="Arial"/>
              </a:defRPr>
            </a:pPr>
            <a:r>
              <a:t>Objectives</a:t>
            </a:r>
          </a:p>
        </p:txBody>
      </p:sp>
      <p:sp>
        <p:nvSpPr>
          <p:cNvPr id="20" name="TextBox 19"/>
          <p:cNvSpPr txBox="1"/>
          <p:nvPr/>
        </p:nvSpPr>
        <p:spPr>
          <a:xfrm>
            <a:off x="868680" y="7909560"/>
            <a:ext cx="9235440" cy="2971800"/>
          </a:xfrm>
          <a:prstGeom prst="rect">
            <a:avLst/>
          </a:prstGeom>
          <a:noFill/>
        </p:spPr>
        <p:txBody>
          <a:bodyPr wrap="square" lIns="18288" rIns="18288" tIns="18288" bIns="18288">
            <a:spAutoFit/>
          </a:bodyPr>
          <a:lstStyle/>
          <a:p>
            <a:pPr>
              <a:spcAft>
                <a:spcPts val="200"/>
              </a:spcAft>
              <a:defRPr sz="2000">
                <a:solidFill>
                  <a:srgbClr val="1E293B"/>
                </a:solidFill>
                <a:latin typeface="Arial"/>
              </a:defRPr>
            </a:pPr>
            <a:r>
              <a:t>The project focused on three recurring risks: public storage exposure, excessive IAM privileges and unrestricted SSH or network access. The aim was to compare how each provider detects these risks using native security tools.</a:t>
            </a:r>
          </a:p>
        </p:txBody>
      </p:sp>
      <p:sp>
        <p:nvSpPr>
          <p:cNvPr id="21" name="Rounded Rectangle 20"/>
          <p:cNvSpPr/>
          <p:nvPr/>
        </p:nvSpPr>
        <p:spPr>
          <a:xfrm>
            <a:off x="731520" y="11292840"/>
            <a:ext cx="9509760" cy="32004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11430000"/>
            <a:ext cx="9235440" cy="320040"/>
          </a:xfrm>
          <a:prstGeom prst="rect">
            <a:avLst/>
          </a:prstGeom>
          <a:noFill/>
        </p:spPr>
        <p:txBody>
          <a:bodyPr wrap="none" lIns="109728" rIns="109728" anchor="t">
            <a:spAutoFit/>
          </a:bodyPr>
          <a:lstStyle/>
          <a:p>
            <a:pPr algn="l">
              <a:defRPr sz="2300" b="1">
                <a:solidFill>
                  <a:srgbClr val="2463EB"/>
                </a:solidFill>
                <a:latin typeface="Arial"/>
              </a:defRPr>
            </a:pPr>
            <a:r>
              <a:t>Method</a:t>
            </a:r>
          </a:p>
        </p:txBody>
      </p:sp>
      <p:sp>
        <p:nvSpPr>
          <p:cNvPr id="23" name="TextBox 22"/>
          <p:cNvSpPr txBox="1"/>
          <p:nvPr/>
        </p:nvSpPr>
        <p:spPr>
          <a:xfrm>
            <a:off x="868680" y="11841480"/>
            <a:ext cx="9235440" cy="2514600"/>
          </a:xfrm>
          <a:prstGeom prst="rect">
            <a:avLst/>
          </a:prstGeom>
          <a:noFill/>
        </p:spPr>
        <p:txBody>
          <a:bodyPr wrap="square" lIns="18288" rIns="18288" tIns="18288" bIns="18288">
            <a:spAutoFit/>
          </a:bodyPr>
          <a:lstStyle/>
          <a:p>
            <a:pPr>
              <a:spcAft>
                <a:spcPts val="200"/>
              </a:spcAft>
              <a:defRPr sz="2000">
                <a:solidFill>
                  <a:srgbClr val="1E293B"/>
                </a:solidFill>
                <a:latin typeface="Arial"/>
              </a:defRPr>
            </a:pPr>
            <a:r>
              <a:t>Controlled test environments were created using free-tier or foundational services. Each vulnerability was introduced safely, evidence was captured through screenshots, native monitoring dashboards were reviewed, and remediation was applied.</a:t>
            </a:r>
          </a:p>
        </p:txBody>
      </p:sp>
      <p:sp>
        <p:nvSpPr>
          <p:cNvPr id="24" name="Rounded Rectangle 23"/>
          <p:cNvSpPr/>
          <p:nvPr/>
        </p:nvSpPr>
        <p:spPr>
          <a:xfrm>
            <a:off x="10789920" y="4343400"/>
            <a:ext cx="9509760" cy="5669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27080" y="4480560"/>
            <a:ext cx="9235440" cy="320040"/>
          </a:xfrm>
          <a:prstGeom prst="rect">
            <a:avLst/>
          </a:prstGeom>
          <a:noFill/>
        </p:spPr>
        <p:txBody>
          <a:bodyPr wrap="none" lIns="109728" rIns="109728" anchor="t">
            <a:spAutoFit/>
          </a:bodyPr>
          <a:lstStyle/>
          <a:p>
            <a:pPr algn="l">
              <a:defRPr sz="2300" b="1">
                <a:solidFill>
                  <a:srgbClr val="2463EB"/>
                </a:solidFill>
                <a:latin typeface="Arial"/>
              </a:defRPr>
            </a:pPr>
            <a:r>
              <a:t>Results</a:t>
            </a:r>
          </a:p>
        </p:txBody>
      </p:sp>
      <p:sp>
        <p:nvSpPr>
          <p:cNvPr id="26" name="TextBox 25"/>
          <p:cNvSpPr txBox="1"/>
          <p:nvPr/>
        </p:nvSpPr>
        <p:spPr>
          <a:xfrm>
            <a:off x="10927080" y="4892040"/>
            <a:ext cx="9235440" cy="4983480"/>
          </a:xfrm>
          <a:prstGeom prst="rect">
            <a:avLst/>
          </a:prstGeom>
          <a:noFill/>
        </p:spPr>
        <p:txBody>
          <a:bodyPr wrap="square" lIns="18288" rIns="18288" tIns="18288" bIns="18288">
            <a:spAutoFit/>
          </a:bodyPr>
          <a:lstStyle/>
          <a:p>
            <a:pPr>
              <a:spcAft>
                <a:spcPts val="200"/>
              </a:spcAft>
              <a:defRPr sz="2000">
                <a:solidFill>
                  <a:srgbClr val="1E293B"/>
                </a:solidFill>
                <a:latin typeface="Arial"/>
              </a:defRPr>
            </a:pPr>
            <a:r>
              <a:t>Detection capability varied across providers. Google Cloud Platform showed the strongest overall visibility, especially through Security Command Centre. AWS detected public S3 exposure effectively but showed weaker default visibility for IAM and SSH exposure. Azure provided useful recommendations, although some depended on delayed posture scans. OCI and IBM Cloud required more manual review under the tested service tiers.</a:t>
            </a:r>
          </a:p>
        </p:txBody>
      </p:sp>
      <p:sp>
        <p:nvSpPr>
          <p:cNvPr id="27" name="Rounded Rectangle 26"/>
          <p:cNvSpPr/>
          <p:nvPr/>
        </p:nvSpPr>
        <p:spPr>
          <a:xfrm>
            <a:off x="10789920" y="10287000"/>
            <a:ext cx="9509760" cy="42062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27080" y="10424160"/>
            <a:ext cx="9235440" cy="320040"/>
          </a:xfrm>
          <a:prstGeom prst="rect">
            <a:avLst/>
          </a:prstGeom>
          <a:noFill/>
        </p:spPr>
        <p:txBody>
          <a:bodyPr wrap="none" lIns="109728" rIns="109728" anchor="t">
            <a:spAutoFit/>
          </a:bodyPr>
          <a:lstStyle/>
          <a:p>
            <a:pPr algn="l">
              <a:defRPr sz="2300" b="1">
                <a:solidFill>
                  <a:srgbClr val="2463EB"/>
                </a:solidFill>
                <a:latin typeface="Arial"/>
              </a:defRPr>
            </a:pPr>
            <a:r>
              <a:t>Conclusion</a:t>
            </a:r>
          </a:p>
        </p:txBody>
      </p:sp>
      <p:sp>
        <p:nvSpPr>
          <p:cNvPr id="29" name="TextBox 28"/>
          <p:cNvSpPr txBox="1"/>
          <p:nvPr/>
        </p:nvSpPr>
        <p:spPr>
          <a:xfrm>
            <a:off x="10927080" y="10835640"/>
            <a:ext cx="9235440" cy="3520439"/>
          </a:xfrm>
          <a:prstGeom prst="rect">
            <a:avLst/>
          </a:prstGeom>
          <a:noFill/>
        </p:spPr>
        <p:txBody>
          <a:bodyPr wrap="square" lIns="18288" rIns="18288" tIns="18288" bIns="18288">
            <a:spAutoFit/>
          </a:bodyPr>
          <a:lstStyle/>
          <a:p>
            <a:pPr>
              <a:spcAft>
                <a:spcPts val="200"/>
              </a:spcAft>
              <a:defRPr sz="2000">
                <a:solidFill>
                  <a:srgbClr val="1E293B"/>
                </a:solidFill>
                <a:latin typeface="Arial"/>
              </a:defRPr>
            </a:pPr>
            <a:r>
              <a:t>Cloud providers do not offer equal default security monitoring. Strong cloud security requires secure configuration, least-privilege access, restricted network exposure, continuous monitoring and regular manual review, especially in low-cost or multi-cloud environments.</a:t>
            </a:r>
          </a:p>
        </p:txBody>
      </p:sp>
      <p:sp>
        <p:nvSpPr>
          <p:cNvPr id="30" name="Rounded Rectangle 29"/>
          <p:cNvSpPr/>
          <p:nvPr/>
        </p:nvSpPr>
        <p:spPr>
          <a:xfrm>
            <a:off x="10789920" y="14767559"/>
            <a:ext cx="9509760" cy="20116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27080" y="14904719"/>
            <a:ext cx="9235440" cy="320040"/>
          </a:xfrm>
          <a:prstGeom prst="rect">
            <a:avLst/>
          </a:prstGeom>
          <a:noFill/>
        </p:spPr>
        <p:txBody>
          <a:bodyPr wrap="none" lIns="109728" rIns="109728" anchor="t">
            <a:spAutoFit/>
          </a:bodyPr>
          <a:lstStyle/>
          <a:p>
            <a:pPr algn="l">
              <a:defRPr sz="2300" b="1">
                <a:solidFill>
                  <a:srgbClr val="2463EB"/>
                </a:solidFill>
                <a:latin typeface="Arial"/>
              </a:defRPr>
            </a:pPr>
            <a:r>
              <a:t>Impact</a:t>
            </a:r>
          </a:p>
        </p:txBody>
      </p:sp>
      <p:sp>
        <p:nvSpPr>
          <p:cNvPr id="32" name="TextBox 31"/>
          <p:cNvSpPr txBox="1"/>
          <p:nvPr/>
        </p:nvSpPr>
        <p:spPr>
          <a:xfrm>
            <a:off x="10927080" y="15316200"/>
            <a:ext cx="9235440" cy="1325880"/>
          </a:xfrm>
          <a:prstGeom prst="rect">
            <a:avLst/>
          </a:prstGeom>
          <a:noFill/>
        </p:spPr>
        <p:txBody>
          <a:bodyPr wrap="square" lIns="18288" rIns="18288" tIns="18288" bIns="18288">
            <a:spAutoFit/>
          </a:bodyPr>
          <a:lstStyle/>
          <a:p>
            <a:pPr>
              <a:spcAft>
                <a:spcPts val="200"/>
              </a:spcAft>
              <a:defRPr sz="2000">
                <a:solidFill>
                  <a:srgbClr val="1E293B"/>
                </a:solidFill>
                <a:latin typeface="Arial"/>
              </a:defRPr>
            </a:pPr>
            <a:r>
              <a:t>The project supports safer cloud deployment decisions for students, start-ups and small organisations alike.</a:t>
            </a:r>
          </a:p>
        </p:txBody>
      </p:sp>
      <p:sp>
        <p:nvSpPr>
          <p:cNvPr id="33" name="Rounded Rectangle 32"/>
          <p:cNvSpPr/>
          <p:nvPr/>
        </p:nvSpPr>
        <p:spPr>
          <a:xfrm>
            <a:off x="21031200" y="4343400"/>
            <a:ext cx="9509760" cy="73152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259800" y="4526280"/>
            <a:ext cx="9052560" cy="411480"/>
          </a:xfrm>
          <a:prstGeom prst="rect">
            <a:avLst/>
          </a:prstGeom>
          <a:noFill/>
        </p:spPr>
        <p:txBody>
          <a:bodyPr wrap="none" lIns="109728" rIns="109728" anchor="t">
            <a:spAutoFit/>
          </a:bodyPr>
          <a:lstStyle/>
          <a:p>
            <a:pPr algn="l">
              <a:defRPr sz="2400" b="1">
                <a:solidFill>
                  <a:srgbClr val="2463EB"/>
                </a:solidFill>
                <a:latin typeface="Arial"/>
              </a:defRPr>
            </a:pPr>
            <a:r>
              <a:t>Detection Visibility Summary</a:t>
            </a:r>
          </a:p>
        </p:txBody>
      </p:sp>
      <p:sp>
        <p:nvSpPr>
          <p:cNvPr id="35" name="TextBox 34"/>
          <p:cNvSpPr txBox="1"/>
          <p:nvPr/>
        </p:nvSpPr>
        <p:spPr>
          <a:xfrm>
            <a:off x="21351240" y="5312664"/>
            <a:ext cx="1371600" cy="274320"/>
          </a:xfrm>
          <a:prstGeom prst="rect">
            <a:avLst/>
          </a:prstGeom>
          <a:noFill/>
        </p:spPr>
        <p:txBody>
          <a:bodyPr wrap="none" lIns="109728" rIns="109728" anchor="t">
            <a:spAutoFit/>
          </a:bodyPr>
          <a:lstStyle/>
          <a:p>
            <a:pPr algn="l">
              <a:defRPr sz="1800" b="1">
                <a:solidFill>
                  <a:srgbClr val="1E293B"/>
                </a:solidFill>
                <a:latin typeface="Arial"/>
              </a:defRPr>
            </a:pPr>
            <a:r>
              <a:t>GCP</a:t>
            </a:r>
          </a:p>
        </p:txBody>
      </p:sp>
      <p:sp>
        <p:nvSpPr>
          <p:cNvPr id="36" name="Rounded Rectangle 35"/>
          <p:cNvSpPr/>
          <p:nvPr/>
        </p:nvSpPr>
        <p:spPr>
          <a:xfrm>
            <a:off x="22860000" y="5257800"/>
            <a:ext cx="6217920" cy="38404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2860000" y="5257800"/>
            <a:ext cx="5848502" cy="38404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123640" y="5294376"/>
            <a:ext cx="1097280" cy="274320"/>
          </a:xfrm>
          <a:prstGeom prst="rect">
            <a:avLst/>
          </a:prstGeom>
          <a:noFill/>
        </p:spPr>
        <p:txBody>
          <a:bodyPr wrap="none" lIns="109728" rIns="109728" anchor="t">
            <a:spAutoFit/>
          </a:bodyPr>
          <a:lstStyle/>
          <a:p>
            <a:pPr algn="r">
              <a:defRPr sz="1500" b="1">
                <a:solidFill>
                  <a:srgbClr val="16A34A"/>
                </a:solidFill>
                <a:latin typeface="Arial"/>
              </a:defRPr>
            </a:pPr>
            <a:r>
              <a:t>Strong</a:t>
            </a:r>
          </a:p>
        </p:txBody>
      </p:sp>
      <p:sp>
        <p:nvSpPr>
          <p:cNvPr id="39" name="TextBox 38"/>
          <p:cNvSpPr txBox="1"/>
          <p:nvPr/>
        </p:nvSpPr>
        <p:spPr>
          <a:xfrm>
            <a:off x="21351240" y="6135624"/>
            <a:ext cx="1371600" cy="274320"/>
          </a:xfrm>
          <a:prstGeom prst="rect">
            <a:avLst/>
          </a:prstGeom>
          <a:noFill/>
        </p:spPr>
        <p:txBody>
          <a:bodyPr wrap="none" lIns="109728" rIns="109728" anchor="t">
            <a:spAutoFit/>
          </a:bodyPr>
          <a:lstStyle/>
          <a:p>
            <a:pPr algn="l">
              <a:defRPr sz="1800" b="1">
                <a:solidFill>
                  <a:srgbClr val="1E293B"/>
                </a:solidFill>
                <a:latin typeface="Arial"/>
              </a:defRPr>
            </a:pPr>
            <a:r>
              <a:t>AWS</a:t>
            </a:r>
          </a:p>
        </p:txBody>
      </p:sp>
      <p:sp>
        <p:nvSpPr>
          <p:cNvPr id="40" name="Rounded Rectangle 39"/>
          <p:cNvSpPr/>
          <p:nvPr/>
        </p:nvSpPr>
        <p:spPr>
          <a:xfrm>
            <a:off x="22860000" y="6080760"/>
            <a:ext cx="6217920" cy="38404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22860000" y="6080760"/>
            <a:ext cx="4065422" cy="3840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123640" y="6117336"/>
            <a:ext cx="1097280" cy="274320"/>
          </a:xfrm>
          <a:prstGeom prst="rect">
            <a:avLst/>
          </a:prstGeom>
          <a:noFill/>
        </p:spPr>
        <p:txBody>
          <a:bodyPr wrap="none" lIns="109728" rIns="109728" anchor="t">
            <a:spAutoFit/>
          </a:bodyPr>
          <a:lstStyle/>
          <a:p>
            <a:pPr algn="r">
              <a:defRPr sz="1500" b="1">
                <a:solidFill>
                  <a:srgbClr val="F59E0B"/>
                </a:solidFill>
                <a:latin typeface="Arial"/>
              </a:defRPr>
            </a:pPr>
            <a:r>
              <a:t>Moderate</a:t>
            </a:r>
          </a:p>
        </p:txBody>
      </p:sp>
      <p:sp>
        <p:nvSpPr>
          <p:cNvPr id="43" name="TextBox 42"/>
          <p:cNvSpPr txBox="1"/>
          <p:nvPr/>
        </p:nvSpPr>
        <p:spPr>
          <a:xfrm>
            <a:off x="21351240" y="6958584"/>
            <a:ext cx="1371600" cy="274320"/>
          </a:xfrm>
          <a:prstGeom prst="rect">
            <a:avLst/>
          </a:prstGeom>
          <a:noFill/>
        </p:spPr>
        <p:txBody>
          <a:bodyPr wrap="none" lIns="109728" rIns="109728" anchor="t">
            <a:spAutoFit/>
          </a:bodyPr>
          <a:lstStyle/>
          <a:p>
            <a:pPr algn="l">
              <a:defRPr sz="1800" b="1">
                <a:solidFill>
                  <a:srgbClr val="1E293B"/>
                </a:solidFill>
                <a:latin typeface="Arial"/>
              </a:defRPr>
            </a:pPr>
            <a:r>
              <a:t>Azure</a:t>
            </a:r>
          </a:p>
        </p:txBody>
      </p:sp>
      <p:sp>
        <p:nvSpPr>
          <p:cNvPr id="44" name="Rounded Rectangle 43"/>
          <p:cNvSpPr/>
          <p:nvPr/>
        </p:nvSpPr>
        <p:spPr>
          <a:xfrm>
            <a:off x="22860000" y="6903720"/>
            <a:ext cx="6217920" cy="38404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22860000" y="6903720"/>
            <a:ext cx="4065422" cy="3840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123640" y="6940296"/>
            <a:ext cx="1097280" cy="274320"/>
          </a:xfrm>
          <a:prstGeom prst="rect">
            <a:avLst/>
          </a:prstGeom>
          <a:noFill/>
        </p:spPr>
        <p:txBody>
          <a:bodyPr wrap="none" lIns="109728" rIns="109728" anchor="t">
            <a:spAutoFit/>
          </a:bodyPr>
          <a:lstStyle/>
          <a:p>
            <a:pPr algn="r">
              <a:defRPr sz="1500" b="1">
                <a:solidFill>
                  <a:srgbClr val="F59E0B"/>
                </a:solidFill>
                <a:latin typeface="Arial"/>
              </a:defRPr>
            </a:pPr>
            <a:r>
              <a:t>Moderate</a:t>
            </a:r>
          </a:p>
        </p:txBody>
      </p:sp>
      <p:sp>
        <p:nvSpPr>
          <p:cNvPr id="47" name="TextBox 46"/>
          <p:cNvSpPr txBox="1"/>
          <p:nvPr/>
        </p:nvSpPr>
        <p:spPr>
          <a:xfrm>
            <a:off x="21351240" y="7781544"/>
            <a:ext cx="1371600" cy="274320"/>
          </a:xfrm>
          <a:prstGeom prst="rect">
            <a:avLst/>
          </a:prstGeom>
          <a:noFill/>
        </p:spPr>
        <p:txBody>
          <a:bodyPr wrap="none" lIns="109728" rIns="109728" anchor="t">
            <a:spAutoFit/>
          </a:bodyPr>
          <a:lstStyle/>
          <a:p>
            <a:pPr algn="l">
              <a:defRPr sz="1800" b="1">
                <a:solidFill>
                  <a:srgbClr val="1E293B"/>
                </a:solidFill>
                <a:latin typeface="Arial"/>
              </a:defRPr>
            </a:pPr>
            <a:r>
              <a:t>OCI</a:t>
            </a:r>
          </a:p>
        </p:txBody>
      </p:sp>
      <p:sp>
        <p:nvSpPr>
          <p:cNvPr id="48" name="Rounded Rectangle 47"/>
          <p:cNvSpPr/>
          <p:nvPr/>
        </p:nvSpPr>
        <p:spPr>
          <a:xfrm>
            <a:off x="22860000" y="7726680"/>
            <a:ext cx="6217920" cy="38404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2860000" y="7726680"/>
            <a:ext cx="2282342" cy="38404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123640" y="7763256"/>
            <a:ext cx="1097280" cy="274320"/>
          </a:xfrm>
          <a:prstGeom prst="rect">
            <a:avLst/>
          </a:prstGeom>
          <a:noFill/>
        </p:spPr>
        <p:txBody>
          <a:bodyPr wrap="none" lIns="109728" rIns="109728" anchor="t">
            <a:spAutoFit/>
          </a:bodyPr>
          <a:lstStyle/>
          <a:p>
            <a:pPr algn="r">
              <a:defRPr sz="1500" b="1">
                <a:solidFill>
                  <a:srgbClr val="DC2626"/>
                </a:solidFill>
                <a:latin typeface="Arial"/>
              </a:defRPr>
            </a:pPr>
            <a:r>
              <a:t>Limited</a:t>
            </a:r>
          </a:p>
        </p:txBody>
      </p:sp>
      <p:sp>
        <p:nvSpPr>
          <p:cNvPr id="51" name="TextBox 50"/>
          <p:cNvSpPr txBox="1"/>
          <p:nvPr/>
        </p:nvSpPr>
        <p:spPr>
          <a:xfrm>
            <a:off x="21351240" y="8604504"/>
            <a:ext cx="1371600" cy="274320"/>
          </a:xfrm>
          <a:prstGeom prst="rect">
            <a:avLst/>
          </a:prstGeom>
          <a:noFill/>
        </p:spPr>
        <p:txBody>
          <a:bodyPr wrap="none" lIns="109728" rIns="109728" anchor="t">
            <a:spAutoFit/>
          </a:bodyPr>
          <a:lstStyle/>
          <a:p>
            <a:pPr algn="l">
              <a:defRPr sz="1800" b="1">
                <a:solidFill>
                  <a:srgbClr val="1E293B"/>
                </a:solidFill>
                <a:latin typeface="Arial"/>
              </a:defRPr>
            </a:pPr>
            <a:r>
              <a:t>IBM</a:t>
            </a:r>
          </a:p>
        </p:txBody>
      </p:sp>
      <p:sp>
        <p:nvSpPr>
          <p:cNvPr id="52" name="Rounded Rectangle 51"/>
          <p:cNvSpPr/>
          <p:nvPr/>
        </p:nvSpPr>
        <p:spPr>
          <a:xfrm>
            <a:off x="22860000" y="8549640"/>
            <a:ext cx="6217920" cy="38404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22860000" y="8549640"/>
            <a:ext cx="2282342" cy="38404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9123640" y="8586216"/>
            <a:ext cx="1097280" cy="274320"/>
          </a:xfrm>
          <a:prstGeom prst="rect">
            <a:avLst/>
          </a:prstGeom>
          <a:noFill/>
        </p:spPr>
        <p:txBody>
          <a:bodyPr wrap="none" lIns="109728" rIns="109728" anchor="t">
            <a:spAutoFit/>
          </a:bodyPr>
          <a:lstStyle/>
          <a:p>
            <a:pPr algn="r">
              <a:defRPr sz="1500" b="1">
                <a:solidFill>
                  <a:srgbClr val="DC2626"/>
                </a:solidFill>
                <a:latin typeface="Arial"/>
              </a:defRPr>
            </a:pPr>
            <a:r>
              <a:t>Limited</a:t>
            </a:r>
          </a:p>
        </p:txBody>
      </p:sp>
      <p:sp>
        <p:nvSpPr>
          <p:cNvPr id="55" name="Rounded Rectangle 54"/>
          <p:cNvSpPr/>
          <p:nvPr/>
        </p:nvSpPr>
        <p:spPr>
          <a:xfrm>
            <a:off x="21031200" y="12024360"/>
            <a:ext cx="9509760" cy="47548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259800" y="12207240"/>
            <a:ext cx="9052560" cy="411480"/>
          </a:xfrm>
          <a:prstGeom prst="rect">
            <a:avLst/>
          </a:prstGeom>
          <a:noFill/>
        </p:spPr>
        <p:txBody>
          <a:bodyPr wrap="none" lIns="109728" rIns="109728" anchor="t">
            <a:spAutoFit/>
          </a:bodyPr>
          <a:lstStyle/>
          <a:p>
            <a:pPr algn="l">
              <a:defRPr sz="2400" b="1">
                <a:solidFill>
                  <a:srgbClr val="2463EB"/>
                </a:solidFill>
                <a:latin typeface="Arial"/>
              </a:defRPr>
            </a:pPr>
            <a:r>
              <a:t>Testing Workflow</a:t>
            </a:r>
          </a:p>
        </p:txBody>
      </p:sp>
      <p:sp>
        <p:nvSpPr>
          <p:cNvPr id="57" name="Oval 56"/>
          <p:cNvSpPr/>
          <p:nvPr/>
        </p:nvSpPr>
        <p:spPr>
          <a:xfrm>
            <a:off x="21671280" y="13030200"/>
            <a:ext cx="960120" cy="960120"/>
          </a:xfrm>
          <a:prstGeom prst="ellipse">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1671280" y="13203936"/>
            <a:ext cx="960120" cy="292608"/>
          </a:xfrm>
          <a:prstGeom prst="rect">
            <a:avLst/>
          </a:prstGeom>
          <a:noFill/>
        </p:spPr>
        <p:txBody>
          <a:bodyPr wrap="none" lIns="109728" rIns="109728" anchor="t">
            <a:spAutoFit/>
          </a:bodyPr>
          <a:lstStyle/>
          <a:p>
            <a:pPr algn="ctr">
              <a:defRPr sz="2200" b="1">
                <a:solidFill>
                  <a:srgbClr val="FFFFFF"/>
                </a:solidFill>
                <a:latin typeface="Arial"/>
              </a:defRPr>
            </a:pPr>
            <a:r>
              <a:t>1</a:t>
            </a:r>
          </a:p>
        </p:txBody>
      </p:sp>
      <p:sp>
        <p:nvSpPr>
          <p:cNvPr id="59" name="TextBox 58"/>
          <p:cNvSpPr txBox="1"/>
          <p:nvPr/>
        </p:nvSpPr>
        <p:spPr>
          <a:xfrm>
            <a:off x="21351239" y="14218920"/>
            <a:ext cx="1600200" cy="365760"/>
          </a:xfrm>
          <a:prstGeom prst="rect">
            <a:avLst/>
          </a:prstGeom>
          <a:noFill/>
        </p:spPr>
        <p:txBody>
          <a:bodyPr wrap="none" lIns="109728" rIns="109728" anchor="t">
            <a:spAutoFit/>
          </a:bodyPr>
          <a:lstStyle/>
          <a:p>
            <a:pPr algn="ctr">
              <a:defRPr sz="1600" b="1">
                <a:solidFill>
                  <a:srgbClr val="1E293B"/>
                </a:solidFill>
                <a:latin typeface="Arial"/>
              </a:defRPr>
            </a:pPr>
            <a:r>
              <a:t>Baseline</a:t>
            </a:r>
          </a:p>
        </p:txBody>
      </p:sp>
      <p:sp>
        <p:nvSpPr>
          <p:cNvPr id="60" name="Right Arrow 59"/>
          <p:cNvSpPr/>
          <p:nvPr/>
        </p:nvSpPr>
        <p:spPr>
          <a:xfrm>
            <a:off x="22750272" y="13240512"/>
            <a:ext cx="914400" cy="548640"/>
          </a:xfrm>
          <a:prstGeom prst="rightArrow">
            <a:avLst/>
          </a:prstGeom>
          <a:solidFill>
            <a:srgbClr val="BFDB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3911560" y="13030200"/>
            <a:ext cx="960120" cy="960120"/>
          </a:xfrm>
          <a:prstGeom prst="ellipse">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11560" y="13203936"/>
            <a:ext cx="960120" cy="292608"/>
          </a:xfrm>
          <a:prstGeom prst="rect">
            <a:avLst/>
          </a:prstGeom>
          <a:noFill/>
        </p:spPr>
        <p:txBody>
          <a:bodyPr wrap="none" lIns="109728" rIns="109728" anchor="t">
            <a:spAutoFit/>
          </a:bodyPr>
          <a:lstStyle/>
          <a:p>
            <a:pPr algn="ctr">
              <a:defRPr sz="2200" b="1">
                <a:solidFill>
                  <a:srgbClr val="FFFFFF"/>
                </a:solidFill>
                <a:latin typeface="Arial"/>
              </a:defRPr>
            </a:pPr>
            <a:r>
              <a:t>2</a:t>
            </a:r>
          </a:p>
        </p:txBody>
      </p:sp>
      <p:sp>
        <p:nvSpPr>
          <p:cNvPr id="63" name="TextBox 62"/>
          <p:cNvSpPr txBox="1"/>
          <p:nvPr/>
        </p:nvSpPr>
        <p:spPr>
          <a:xfrm>
            <a:off x="23591519" y="14218920"/>
            <a:ext cx="1600200" cy="365760"/>
          </a:xfrm>
          <a:prstGeom prst="rect">
            <a:avLst/>
          </a:prstGeom>
          <a:noFill/>
        </p:spPr>
        <p:txBody>
          <a:bodyPr wrap="none" lIns="109728" rIns="109728" anchor="t">
            <a:spAutoFit/>
          </a:bodyPr>
          <a:lstStyle/>
          <a:p>
            <a:pPr algn="ctr">
              <a:defRPr sz="1600" b="1">
                <a:solidFill>
                  <a:srgbClr val="1E293B"/>
                </a:solidFill>
                <a:latin typeface="Arial"/>
              </a:defRPr>
            </a:pPr>
            <a:r>
              <a:t>Misconfigure</a:t>
            </a:r>
          </a:p>
        </p:txBody>
      </p:sp>
      <p:sp>
        <p:nvSpPr>
          <p:cNvPr id="64" name="Right Arrow 63"/>
          <p:cNvSpPr/>
          <p:nvPr/>
        </p:nvSpPr>
        <p:spPr>
          <a:xfrm>
            <a:off x="24990552" y="13240512"/>
            <a:ext cx="914400" cy="548640"/>
          </a:xfrm>
          <a:prstGeom prst="rightArrow">
            <a:avLst/>
          </a:prstGeom>
          <a:solidFill>
            <a:srgbClr val="BFDB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6151840" y="13030200"/>
            <a:ext cx="960120" cy="960120"/>
          </a:xfrm>
          <a:prstGeom prst="ellipse">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6151840" y="13203936"/>
            <a:ext cx="960120" cy="292608"/>
          </a:xfrm>
          <a:prstGeom prst="rect">
            <a:avLst/>
          </a:prstGeom>
          <a:noFill/>
        </p:spPr>
        <p:txBody>
          <a:bodyPr wrap="none" lIns="109728" rIns="109728" anchor="t">
            <a:spAutoFit/>
          </a:bodyPr>
          <a:lstStyle/>
          <a:p>
            <a:pPr algn="ctr">
              <a:defRPr sz="2200" b="1">
                <a:solidFill>
                  <a:srgbClr val="FFFFFF"/>
                </a:solidFill>
                <a:latin typeface="Arial"/>
              </a:defRPr>
            </a:pPr>
            <a:r>
              <a:t>3</a:t>
            </a:r>
          </a:p>
        </p:txBody>
      </p:sp>
      <p:sp>
        <p:nvSpPr>
          <p:cNvPr id="67" name="TextBox 66"/>
          <p:cNvSpPr txBox="1"/>
          <p:nvPr/>
        </p:nvSpPr>
        <p:spPr>
          <a:xfrm>
            <a:off x="25831800" y="14218920"/>
            <a:ext cx="1600200" cy="365760"/>
          </a:xfrm>
          <a:prstGeom prst="rect">
            <a:avLst/>
          </a:prstGeom>
          <a:noFill/>
        </p:spPr>
        <p:txBody>
          <a:bodyPr wrap="none" lIns="109728" rIns="109728" anchor="t">
            <a:spAutoFit/>
          </a:bodyPr>
          <a:lstStyle/>
          <a:p>
            <a:pPr algn="ctr">
              <a:defRPr sz="1600" b="1">
                <a:solidFill>
                  <a:srgbClr val="1E293B"/>
                </a:solidFill>
                <a:latin typeface="Arial"/>
              </a:defRPr>
            </a:pPr>
            <a:r>
              <a:t>Detect</a:t>
            </a:r>
          </a:p>
        </p:txBody>
      </p:sp>
      <p:sp>
        <p:nvSpPr>
          <p:cNvPr id="68" name="Right Arrow 67"/>
          <p:cNvSpPr/>
          <p:nvPr/>
        </p:nvSpPr>
        <p:spPr>
          <a:xfrm>
            <a:off x="27230832" y="13240512"/>
            <a:ext cx="914400" cy="548640"/>
          </a:xfrm>
          <a:prstGeom prst="rightArrow">
            <a:avLst/>
          </a:prstGeom>
          <a:solidFill>
            <a:srgbClr val="BFDB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8392120" y="13030200"/>
            <a:ext cx="960120" cy="960120"/>
          </a:xfrm>
          <a:prstGeom prst="ellipse">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8392120" y="13203936"/>
            <a:ext cx="960120" cy="292608"/>
          </a:xfrm>
          <a:prstGeom prst="rect">
            <a:avLst/>
          </a:prstGeom>
          <a:noFill/>
        </p:spPr>
        <p:txBody>
          <a:bodyPr wrap="none" lIns="109728" rIns="109728" anchor="t">
            <a:spAutoFit/>
          </a:bodyPr>
          <a:lstStyle/>
          <a:p>
            <a:pPr algn="ctr">
              <a:defRPr sz="2200" b="1">
                <a:solidFill>
                  <a:srgbClr val="FFFFFF"/>
                </a:solidFill>
                <a:latin typeface="Arial"/>
              </a:defRPr>
            </a:pPr>
            <a:r>
              <a:t>4</a:t>
            </a:r>
          </a:p>
        </p:txBody>
      </p:sp>
      <p:sp>
        <p:nvSpPr>
          <p:cNvPr id="71" name="TextBox 70"/>
          <p:cNvSpPr txBox="1"/>
          <p:nvPr/>
        </p:nvSpPr>
        <p:spPr>
          <a:xfrm>
            <a:off x="28072080" y="14218920"/>
            <a:ext cx="1600200" cy="365760"/>
          </a:xfrm>
          <a:prstGeom prst="rect">
            <a:avLst/>
          </a:prstGeom>
          <a:noFill/>
        </p:spPr>
        <p:txBody>
          <a:bodyPr wrap="none" lIns="109728" rIns="109728" anchor="t">
            <a:spAutoFit/>
          </a:bodyPr>
          <a:lstStyle/>
          <a:p>
            <a:pPr algn="ctr">
              <a:defRPr sz="1600" b="1">
                <a:solidFill>
                  <a:srgbClr val="1E293B"/>
                </a:solidFill>
                <a:latin typeface="Arial"/>
              </a:defRPr>
            </a:pPr>
            <a:r>
              <a:t>Remediate</a:t>
            </a:r>
          </a:p>
        </p:txBody>
      </p:sp>
      <p:sp>
        <p:nvSpPr>
          <p:cNvPr id="72" name="Rectangle 71"/>
          <p:cNvSpPr/>
          <p:nvPr/>
        </p:nvSpPr>
        <p:spPr>
          <a:xfrm>
            <a:off x="0" y="21725573"/>
            <a:ext cx="31359474" cy="777240"/>
          </a:xfrm>
          <a:prstGeom prst="rect">
            <a:avLst/>
          </a:prstGeom>
          <a:solidFill>
            <a:srgbClr val="0E20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5800" y="21935885"/>
            <a:ext cx="29987874" cy="320040"/>
          </a:xfrm>
          <a:prstGeom prst="rect">
            <a:avLst/>
          </a:prstGeom>
          <a:noFill/>
        </p:spPr>
        <p:txBody>
          <a:bodyPr wrap="none" lIns="109728" rIns="109728" anchor="t">
            <a:spAutoFit/>
          </a:bodyPr>
          <a:lstStyle/>
          <a:p>
            <a:pPr algn="ctr">
              <a:defRPr sz="1800" b="0">
                <a:solidFill>
                  <a:srgbClr val="FFFFFF"/>
                </a:solidFill>
                <a:latin typeface="Arial"/>
              </a:defRPr>
            </a:pPr>
            <a:r>
              <a:t>Key takeaway: multi-cloud security needs consistent governance because native detection varies by platform and service tier.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